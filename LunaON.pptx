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embedTrueTypeFonts="1" saveSubsetFonts="1">
  <p:sldMasterIdLst>
    <p:sldMasterId id="2147483665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Pretendard" panose="02000503000000020004" pitchFamily="2" charset="-127"/>
      <p:regular r:id="rId20"/>
      <p:bold r:id="rId21"/>
    </p:embeddedFont>
    <p:embeddedFont>
      <p:font typeface="맑은 고딕" panose="020B0503020000020004" pitchFamily="50" charset="-127"/>
      <p:regular r:id="rId22"/>
      <p:bold r:id="rId23"/>
    </p:embeddedFont>
    <p:embeddedFont>
      <p:font typeface="Pretendard Black" panose="02000A03000000020004" pitchFamily="2" charset="-127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287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3D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 snapToObjects="1">
      <p:cViewPr varScale="1">
        <p:scale>
          <a:sx n="71" d="100"/>
          <a:sy n="71" d="100"/>
        </p:scale>
        <p:origin x="636" y="66"/>
      </p:cViewPr>
      <p:guideLst>
        <p:guide orient="horz" pos="2158"/>
        <p:guide pos="28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E4053-AE26-46B4-B7A6-E25269AF87C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7018D8-8CE9-48F8-B85E-17C0F4DF28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9446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830D58-093B-48AA-A1CA-033B4771725D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0CE666-DAEC-4BCF-B958-675A455FC7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95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86000" y="1684338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302EE-1E6F-453E-AEF3-E1A940FBAA07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8479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57D1A-1456-45ED-B33C-4E96853E1D07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018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886A4-B01E-4AF8-AAB4-609065645DE8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0104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810500" cy="6527800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9220200" y="2738438"/>
            <a:ext cx="7810500" cy="6527800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F2971-3D3E-48EC-AA3B-D0D8EB176C19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464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260475" y="547688"/>
            <a:ext cx="15773400" cy="1989137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60475" y="2522538"/>
            <a:ext cx="7735888" cy="1235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60475" y="3757613"/>
            <a:ext cx="7735888" cy="5527675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9258300" y="2522538"/>
            <a:ext cx="7775575" cy="1235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5575" cy="5527675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67BB4-F3EA-41E0-998A-73A68DECBE0D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41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FC77D-009F-4206-853F-F44DF035CBF0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3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0C186-297F-4EA5-BA15-8CE6025A8C8A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265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C1427-1E01-4407-9676-56CDA5785A74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260475" y="685800"/>
            <a:ext cx="5897563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7775575" y="1481138"/>
            <a:ext cx="9258300" cy="73104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260475" y="3086100"/>
            <a:ext cx="5897563" cy="5718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CCF79-9C8C-40FF-BEF3-31A84F4B2498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6405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2300C0-FB49-4F06-B6E0-389444F6F906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188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855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77650" cy="8718550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8E269-8829-4867-9AC5-6624F0F38455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5867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C416F-64A1-41DA-B7F6-7EFC49055C04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2420600" y="9709149"/>
            <a:ext cx="5321300" cy="463551"/>
          </a:xfrm>
          <a:prstGeom prst="rect">
            <a:avLst/>
          </a:prstGeom>
        </p:spPr>
        <p:txBody>
          <a:bodyPr anchor="ctr"/>
          <a:lstStyle>
            <a:lvl1pPr algn="r">
              <a:defRPr sz="160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en-US" dirty="0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‹#›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03406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 편집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4C34C-B84C-4084-A638-D58AB91979D3}" type="datetime1">
              <a:rPr lang="en-US" altLang="ko-KR" smtClean="0"/>
              <a:t>6/18/2025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9B3041-8F03-4D52-94EF-2A7482F82C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523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youtu.be/WBD_81g0HHI" TargetMode="External"/><Relationship Id="rId4" Type="http://schemas.openxmlformats.org/officeDocument/2006/relationships/hyperlink" Target="https://github.com/xxxuug/LunaON.gi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2700"/>
            <a:ext cx="18288000" cy="105791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2565400" y="2857500"/>
            <a:ext cx="13157200" cy="3781985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11000" b="1" i="0" u="none" strike="noStrike" spc="100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LUNA </a:t>
            </a:r>
            <a:r>
              <a:rPr lang="en-US" sz="11000" b="1" i="0" u="none" strike="noStrike" spc="100" dirty="0" smtClean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ON</a:t>
            </a:r>
          </a:p>
          <a:p>
            <a:pPr lvl="0" algn="ctr">
              <a:lnSpc>
                <a:spcPct val="99600"/>
              </a:lnSpc>
            </a:pPr>
            <a:r>
              <a:rPr lang="ko-KR" sz="11000" b="1" i="0" u="none" strike="noStrike" spc="100" dirty="0" smtClean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포트폴리오</a:t>
            </a:r>
            <a:endParaRPr lang="ko-KR" sz="11000" b="1" i="0" u="none" strike="noStrike" spc="100" dirty="0">
              <a:solidFill>
                <a:srgbClr val="FFFFFF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98500" y="8039100"/>
            <a:ext cx="4153535" cy="1880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l">
              <a:lnSpc>
                <a:spcPct val="120350"/>
              </a:lnSpc>
              <a:buFontTx/>
              <a:buNone/>
            </a:pPr>
            <a:r>
              <a:rPr lang="ko-KR" sz="2500" b="1" i="0" strike="noStrike" dirty="0" err="1" smtClean="0">
                <a:solidFill>
                  <a:srgbClr val="FFFFFF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유예원</a:t>
            </a:r>
            <a:endParaRPr lang="en-US" altLang="ko-KR" sz="2500" b="1" i="0" strike="noStrike" dirty="0" smtClean="0">
              <a:solidFill>
                <a:srgbClr val="FFFFFF">
                  <a:alpha val="84780"/>
                </a:srgb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120350"/>
              </a:lnSpc>
              <a:buFontTx/>
              <a:buNone/>
            </a:pPr>
            <a:r>
              <a:rPr lang="en-US" altLang="ko-KR" sz="2500" b="1" dirty="0" smtClean="0">
                <a:solidFill>
                  <a:srgbClr val="FFFFFF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010-3877-9786</a:t>
            </a:r>
          </a:p>
          <a:p>
            <a:pPr marL="0" indent="0" algn="l">
              <a:lnSpc>
                <a:spcPct val="120350"/>
              </a:lnSpc>
              <a:buFontTx/>
              <a:buNone/>
            </a:pPr>
            <a:r>
              <a:rPr lang="en-US" altLang="ko-KR" sz="2500" b="1" i="0" strike="noStrike" dirty="0" smtClean="0">
                <a:solidFill>
                  <a:srgbClr val="FFFFFF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dnjss08@naver.com</a:t>
            </a:r>
            <a:endParaRPr lang="ko-KR" altLang="en-US" sz="2500" b="1" i="0" strike="noStrike" dirty="0">
              <a:solidFill>
                <a:srgbClr val="FFFFFF">
                  <a:alpha val="84780"/>
                </a:srgb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TextBox 3"/>
          <p:cNvSpPr txBox="1"/>
          <p:nvPr/>
        </p:nvSpPr>
        <p:spPr>
          <a:xfrm>
            <a:off x="6515100" y="2857500"/>
            <a:ext cx="52578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i="0" u="none" strike="noStrike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Unity </a:t>
            </a:r>
            <a:r>
              <a:rPr lang="en-US" sz="3000" b="1" i="0" u="none" strike="noStrike" dirty="0" smtClean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3D </a:t>
            </a:r>
            <a:r>
              <a:rPr lang="en-US" sz="3000" b="1" i="0" u="none" strike="noStrike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RPG </a:t>
            </a:r>
            <a:r>
              <a:rPr lang="ko-KR" sz="3000" b="1" i="0" u="none" strike="noStrike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</a:t>
            </a:r>
            <a:r>
              <a:rPr lang="en-US" sz="3000" b="1" i="0" u="none" strike="noStrike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1" i="0" u="none" strike="noStrike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포트폴리오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4800"/>
            <a:ext cx="18288000" cy="9956800"/>
          </a:xfrm>
          <a:prstGeom prst="rect">
            <a:avLst/>
          </a:prstGeom>
        </p:spPr>
      </p:pic>
      <p:grpSp>
        <p:nvGrpSpPr>
          <p:cNvPr id="3" name="그룹 2"/>
          <p:cNvGrpSpPr/>
          <p:nvPr/>
        </p:nvGrpSpPr>
        <p:grpSpPr>
          <a:xfrm>
            <a:off x="10311765" y="2019300"/>
            <a:ext cx="5474970" cy="1219200"/>
            <a:chOff x="10311765" y="2400300"/>
            <a:chExt cx="5474970" cy="1219200"/>
          </a:xfrm>
        </p:grpSpPr>
        <p:sp>
          <p:nvSpPr>
            <p:cNvPr id="4" name="TextBox 4"/>
            <p:cNvSpPr txBox="1"/>
            <p:nvPr/>
          </p:nvSpPr>
          <p:spPr>
            <a:xfrm>
              <a:off x="11125200" y="3237865"/>
              <a:ext cx="4661535" cy="3816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108729"/>
                </a:lnSpc>
                <a:buFontTx/>
                <a:buNone/>
              </a:pP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어떤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게임인지</a:t>
              </a:r>
              <a:endParaRPr lang="ko-KR" altLang="en-US" sz="4000" b="1" i="0" strike="noStrike" dirty="0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0311765" y="2400300"/>
              <a:ext cx="940435" cy="5848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01</a:t>
              </a:r>
              <a:endParaRPr lang="ko-KR" altLang="en-US" sz="40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1188065" y="2413000"/>
              <a:ext cx="3823335" cy="5848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ko-KR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개요</a:t>
              </a:r>
              <a:endParaRPr lang="ko-KR" altLang="en-US" sz="40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123565" y="4705032"/>
            <a:ext cx="4940935" cy="11563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11000" b="1" i="0" strike="noStrike" spc="5000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목차</a:t>
            </a:r>
            <a:endParaRPr lang="ko-KR" altLang="en-US" sz="11000" b="1" i="0" strike="noStrike" spc="50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grpSp>
        <p:nvGrpSpPr>
          <p:cNvPr id="8" name="그룹 7"/>
          <p:cNvGrpSpPr/>
          <p:nvPr/>
        </p:nvGrpSpPr>
        <p:grpSpPr>
          <a:xfrm>
            <a:off x="10267689" y="4127182"/>
            <a:ext cx="5581911" cy="1550353"/>
            <a:chOff x="10267689" y="4113530"/>
            <a:chExt cx="5581911" cy="1550353"/>
          </a:xfrm>
        </p:grpSpPr>
        <p:sp>
          <p:nvSpPr>
            <p:cNvPr id="9" name="TextBox 9"/>
            <p:cNvSpPr txBox="1"/>
            <p:nvPr/>
          </p:nvSpPr>
          <p:spPr>
            <a:xfrm>
              <a:off x="11188065" y="5282248"/>
              <a:ext cx="4661535" cy="3816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108729"/>
                </a:lnSpc>
                <a:buFontTx/>
                <a:buNone/>
              </a:pP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왜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이런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게임을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개발하려고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했는지</a:t>
              </a:r>
              <a:endParaRPr lang="ko-KR" altLang="en-US" sz="4000" b="1" i="0" strike="noStrike" dirty="0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67689" y="4113530"/>
              <a:ext cx="736600" cy="5848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02</a:t>
              </a:r>
              <a:endParaRPr lang="ko-KR" altLang="en-US" sz="40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188065" y="4113530"/>
              <a:ext cx="3823335" cy="5848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ko-KR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개발</a:t>
              </a:r>
              <a:r>
                <a:rPr lang="en-US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의도</a:t>
              </a:r>
              <a:endParaRPr lang="ko-KR" altLang="en-US" sz="40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10330814" y="6762908"/>
            <a:ext cx="5537835" cy="1580992"/>
            <a:chOff x="10311765" y="6591300"/>
            <a:chExt cx="5537835" cy="1580992"/>
          </a:xfrm>
        </p:grpSpPr>
        <p:sp>
          <p:nvSpPr>
            <p:cNvPr id="13" name="TextBox 13"/>
            <p:cNvSpPr txBox="1"/>
            <p:nvPr/>
          </p:nvSpPr>
          <p:spPr>
            <a:xfrm>
              <a:off x="11188065" y="7790657"/>
              <a:ext cx="4661535" cy="3816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108729"/>
                </a:lnSpc>
                <a:buFontTx/>
                <a:buNone/>
              </a:pP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어떤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기능들을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어떻게</a:t>
              </a:r>
              <a:r>
                <a:rPr lang="en-US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>
                      <a:alpha val="84780"/>
                    </a:srgb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구현했는지</a:t>
              </a:r>
              <a:endParaRPr lang="ko-KR" altLang="en-US" sz="4000" b="1" i="0" strike="noStrike" dirty="0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311765" y="6591300"/>
              <a:ext cx="940435" cy="5848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40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03</a:t>
              </a:r>
              <a:endParaRPr lang="ko-KR" altLang="en-US" sz="40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188065" y="6591300"/>
              <a:ext cx="3823335" cy="5848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ko-KR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기능</a:t>
              </a:r>
              <a:r>
                <a:rPr lang="en-US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4000" b="1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구현</a:t>
              </a:r>
              <a:endParaRPr lang="ko-KR" altLang="en-US" sz="40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-2578100"/>
            <a:ext cx="15252700" cy="1525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4800"/>
            <a:ext cx="18288000" cy="99568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930400" y="2095500"/>
            <a:ext cx="4940300" cy="1155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en-US" sz="6500" b="1" i="0" u="none" strike="noStrike" spc="100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01</a:t>
            </a:r>
            <a:endParaRPr lang="en-US" sz="6500" b="1" i="0" u="none" strike="noStrike" spc="1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1239500" y="4064000"/>
            <a:ext cx="3632200" cy="2311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13000" b="0" i="0" u="none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162300"/>
            <a:ext cx="8477250" cy="55626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7664450" y="1197400"/>
            <a:ext cx="2959100" cy="825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sz="4600" b="1" i="0" u="none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이</a:t>
            </a:r>
            <a:r>
              <a:rPr lang="en-US" sz="4600" b="1" i="0" u="none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4600" b="1" i="0" u="none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게임은</a:t>
            </a:r>
            <a:r>
              <a:rPr lang="en-US" sz="4600" b="1" i="0" u="none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11927" y="3463702"/>
            <a:ext cx="8089900" cy="3572379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: LUNA ON</a:t>
            </a:r>
            <a:endParaRPr lang="ko-KR" altLang="en-US" sz="4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4000" b="0" i="0" strike="noStrike" dirty="0">
              <a:solidFill>
                <a:srgbClr val="363D62"/>
              </a:solidFill>
              <a:latin typeface="Gmarket Sans Bold" charset="0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alt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 장르 </a:t>
            </a:r>
            <a:r>
              <a:rPr lang="en-US" altLang="ko-KR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3D RPG</a:t>
            </a: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제작</a:t>
            </a:r>
            <a:r>
              <a:rPr 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기간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: 2025.03 ~ 2025.05 (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약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6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3100" b="0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제작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인원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: 1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endParaRPr lang="ko-KR" altLang="en-US" sz="3100" b="0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툴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기술</a:t>
            </a:r>
            <a:r>
              <a:rPr lang="en-US" sz="3100" b="0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: Unity6, C</a:t>
            </a:r>
            <a:r>
              <a:rPr 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#</a:t>
            </a: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alt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주요기능 </a:t>
            </a:r>
            <a:r>
              <a:rPr lang="en-US" altLang="ko-KR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NPC</a:t>
            </a:r>
            <a:r>
              <a:rPr lang="ko-KR" alt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대화</a:t>
            </a:r>
            <a:r>
              <a:rPr lang="en-US" altLang="ko-KR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퀘스트</a:t>
            </a:r>
            <a:r>
              <a:rPr lang="en-US" altLang="ko-KR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몬스터</a:t>
            </a:r>
            <a:r>
              <a:rPr lang="en-US" altLang="ko-KR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3100" b="0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보스 </a:t>
            </a:r>
            <a:r>
              <a:rPr lang="ko-KR" altLang="en-US" sz="3100" b="0" i="0" strike="noStrike" dirty="0" err="1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기능구현</a:t>
            </a:r>
            <a:endParaRPr lang="ko-KR" altLang="en-US" sz="3100" b="0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01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4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개요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5" name="슬라이드 번호 개체 틀 1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4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9448800" y="7286211"/>
            <a:ext cx="804545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5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 : </a:t>
            </a:r>
            <a:r>
              <a:rPr lang="en-US" altLang="ko-KR" sz="25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4"/>
              </a:rPr>
              <a:t>https://</a:t>
            </a:r>
            <a:r>
              <a:rPr lang="en-US" altLang="ko-KR" sz="25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4"/>
              </a:rPr>
              <a:t>github.com/xxxuug/LunaON.git</a:t>
            </a:r>
            <a:endParaRPr lang="en-US" altLang="ko-KR" sz="2500" b="1" dirty="0" smtClean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en-US" altLang="ko-KR" sz="25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Youtube : </a:t>
            </a:r>
            <a:r>
              <a:rPr lang="en-US" altLang="ko-KR" sz="25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5"/>
              </a:rPr>
              <a:t>https://</a:t>
            </a:r>
            <a:r>
              <a:rPr lang="en-US" altLang="ko-KR" sz="25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5"/>
              </a:rPr>
              <a:t>youtu.be/WBD_81g0HHI</a:t>
            </a:r>
            <a:endParaRPr lang="ko-KR" altLang="en-US" sz="25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-2578100"/>
            <a:ext cx="15252700" cy="1525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4800"/>
            <a:ext cx="18288000" cy="99568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930400" y="2095500"/>
            <a:ext cx="4940935" cy="11563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en-US" sz="6500" b="1" i="0" strike="noStrike" spc="1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02</a:t>
            </a:r>
            <a:endParaRPr lang="ko-KR" altLang="en-US" sz="65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9956800" y="4216400"/>
            <a:ext cx="7379335" cy="23120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13000" b="0" i="0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</a:t>
            </a:r>
            <a:r>
              <a:rPr lang="en-US" sz="13000" b="0" i="0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13000" b="0" i="0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의도</a:t>
            </a:r>
            <a:endParaRPr lang="ko-KR" altLang="en-US" sz="13000" b="0" i="0" strike="noStrike" dirty="0">
              <a:solidFill>
                <a:srgbClr val="FFFFFF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100" y="965200"/>
            <a:ext cx="7480300" cy="4216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100" y="5359400"/>
            <a:ext cx="7480300" cy="4203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9652000" y="1701800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46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왜</a:t>
            </a:r>
            <a:r>
              <a:rPr lang="en-US" sz="46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46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개발하려고</a:t>
            </a:r>
            <a:r>
              <a:rPr lang="en-US" sz="46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46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했을까</a:t>
            </a:r>
            <a:r>
              <a:rPr lang="en-US" sz="46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?</a:t>
            </a:r>
            <a:endParaRPr lang="ko-KR" altLang="en-US" sz="46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652000" y="2781300"/>
            <a:ext cx="7658735" cy="6198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제가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만들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있는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3D RPG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기능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구현의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한계가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어디인지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궁금했습니다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4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4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조금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부족하더라도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RPG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게임에서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흔하게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만나볼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있는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요소들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위주로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구현하려고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노력했습니다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4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4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퀘스트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보스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몬스터에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중점을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두어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개발했습니다</a:t>
            </a:r>
            <a:r>
              <a:rPr lang="en-US" sz="4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4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02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4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 의도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5" name="슬라이드 번호 개체 틀 1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dirty="0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6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-2578100"/>
            <a:ext cx="15252700" cy="1525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4800"/>
            <a:ext cx="18288000" cy="99568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930400" y="2095500"/>
            <a:ext cx="4940935" cy="11563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en-US" sz="6500" b="1" i="0" strike="noStrike" spc="1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65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9956800" y="4216400"/>
            <a:ext cx="7379335" cy="23120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13000" b="0" i="0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</a:t>
            </a:r>
            <a:r>
              <a:rPr lang="en-US" sz="13000" b="0" i="0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13000" b="0" i="0" strike="noStrike" dirty="0">
                <a:solidFill>
                  <a:srgbClr val="FFFFFF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구현</a:t>
            </a:r>
            <a:endParaRPr lang="ko-KR" altLang="en-US" sz="13000" b="0" i="0" strike="noStrike" dirty="0">
              <a:solidFill>
                <a:srgbClr val="FFFFFF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5135" y="2461559"/>
            <a:ext cx="4762500" cy="2679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800" y="2463800"/>
            <a:ext cx="4762500" cy="2679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48465" y="2463800"/>
            <a:ext cx="4762500" cy="2679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302049" y="1142999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46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보스</a:t>
            </a:r>
            <a:r>
              <a:rPr lang="en-US" sz="46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AI </a:t>
            </a:r>
            <a:r>
              <a:rPr lang="ko-KR" sz="4600" b="1" i="0" strike="noStrike" dirty="0" err="1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상태머신</a:t>
            </a:r>
            <a:r>
              <a:rPr lang="en-US" sz="46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4600" b="1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구조</a:t>
            </a:r>
            <a:endParaRPr lang="ko-KR" altLang="en-US" sz="46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전이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대기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로직</a:t>
            </a:r>
            <a:endParaRPr lang="ko-KR" altLang="en-US" sz="2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3032" y="5372100"/>
            <a:ext cx="6172200" cy="45466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9115667" y="6248082"/>
            <a:ext cx="7067868" cy="27946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보스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AI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유한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상태머신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(FSM)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기반으로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대기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추적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비행</a:t>
            </a:r>
            <a:r>
              <a:rPr lang="en-US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등의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상태를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전환하며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동작합니다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ko-KR" altLang="en-US" sz="2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StateMachine&lt;DragonController&gt;</a:t>
            </a:r>
            <a:r>
              <a:rPr lang="ko-KR" sz="20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사용해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각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상태별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err="1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로직을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분리했고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 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종료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시점에는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OnAttackAnimationEnd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()</a:t>
            </a:r>
            <a:r>
              <a:rPr lang="ko-KR" sz="2000" b="1" i="0" strike="noStrike" dirty="0" err="1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통해</a:t>
            </a:r>
            <a:r>
              <a:rPr lang="en-US" altLang="ko-KR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자연스러운</a:t>
            </a:r>
            <a:r>
              <a:rPr lang="en-US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전환을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구현했습니다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ko-KR" altLang="en-US" sz="2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체력이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절반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이하로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떨어질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경우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isFlying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조건을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활성화해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공중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패턴</a:t>
            </a:r>
            <a:r>
              <a:rPr lang="en-US" sz="20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비행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메테오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sz="20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전환됩니다</a:t>
            </a:r>
            <a:r>
              <a:rPr lang="en-US" sz="20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0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6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7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0" name="슬라이드 번호 개체 틀 19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8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grpSp>
        <p:nvGrpSpPr>
          <p:cNvPr id="2" name="그룹 1"/>
          <p:cNvGrpSpPr/>
          <p:nvPr/>
        </p:nvGrpSpPr>
        <p:grpSpPr>
          <a:xfrm>
            <a:off x="8623300" y="2390238"/>
            <a:ext cx="8369300" cy="4356100"/>
            <a:chOff x="1384300" y="2362200"/>
            <a:chExt cx="8534400" cy="43561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84300" y="2387600"/>
              <a:ext cx="4203700" cy="2133600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7700" y="2362200"/>
              <a:ext cx="4191000" cy="2159000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4300" y="4559300"/>
              <a:ext cx="4203700" cy="2159000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27700" y="4559300"/>
              <a:ext cx="4191000" cy="2159000"/>
            </a:xfrm>
            <a:prstGeom prst="rect">
              <a:avLst/>
            </a:prstGeom>
          </p:spPr>
        </p:pic>
      </p:grpSp>
      <p:sp>
        <p:nvSpPr>
          <p:cNvPr id="16" name="TextBox 16"/>
          <p:cNvSpPr txBox="1"/>
          <p:nvPr/>
        </p:nvSpPr>
        <p:spPr>
          <a:xfrm>
            <a:off x="8659159" y="7144507"/>
            <a:ext cx="8333441" cy="2337119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보스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이벤트를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통해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Hitbox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순간적으로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활성화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되며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위치에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불꽃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폭발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등의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이펙트를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재생하여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타격감을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강화했습니다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5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ko-KR" altLang="en-US" sz="25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이펙트는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전용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함수로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실행되며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종류마다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다른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시각적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연출을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구현했습니다</a:t>
            </a:r>
            <a:r>
              <a:rPr lang="en-US" sz="2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5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1302048" y="4555472"/>
            <a:ext cx="6871759" cy="2514600"/>
            <a:chOff x="1384300" y="7239000"/>
            <a:chExt cx="7009423" cy="2514600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84301" y="7505700"/>
              <a:ext cx="7009422" cy="2247900"/>
            </a:xfrm>
            <a:prstGeom prst="rect">
              <a:avLst/>
            </a:prstGeom>
          </p:spPr>
        </p:pic>
        <p:sp>
          <p:nvSpPr>
            <p:cNvPr id="22" name="TextBox 17"/>
            <p:cNvSpPr txBox="1"/>
            <p:nvPr/>
          </p:nvSpPr>
          <p:spPr>
            <a:xfrm>
              <a:off x="1384300" y="7239000"/>
              <a:ext cx="4483100" cy="262980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DragonController.cs</a:t>
              </a:r>
              <a:r>
                <a:rPr lang="en-US" sz="1500" b="1" i="0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– </a:t>
              </a:r>
              <a:r>
                <a:rPr lang="ko-KR" altLang="en-US" sz="1500" b="1" i="0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공중 공격 패턴 중 첫 번째</a:t>
              </a:r>
              <a:endParaRPr lang="ko-KR" altLang="en-US" sz="1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1308101" y="7200900"/>
            <a:ext cx="6865707" cy="1524000"/>
            <a:chOff x="9302750" y="7239000"/>
            <a:chExt cx="6865707" cy="1104900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302750" y="7505700"/>
              <a:ext cx="6865707" cy="838200"/>
            </a:xfrm>
            <a:prstGeom prst="rect">
              <a:avLst/>
            </a:prstGeom>
          </p:spPr>
        </p:pic>
        <p:sp>
          <p:nvSpPr>
            <p:cNvPr id="23" name="TextBox 17"/>
            <p:cNvSpPr txBox="1"/>
            <p:nvPr/>
          </p:nvSpPr>
          <p:spPr>
            <a:xfrm>
              <a:off x="9302750" y="7239000"/>
              <a:ext cx="4483100" cy="262980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DragonController.cs</a:t>
              </a:r>
              <a:r>
                <a:rPr lang="en-US" sz="1500" b="1" i="0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– </a:t>
              </a:r>
              <a:r>
                <a:rPr lang="ko-KR" altLang="en-US" sz="1500" b="1" i="0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공중 공격 패턴 중 두 번째</a:t>
              </a:r>
              <a:endParaRPr lang="ko-KR" altLang="en-US" sz="1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1308100" y="2828014"/>
            <a:ext cx="6865707" cy="1524454"/>
            <a:chOff x="10210799" y="2095046"/>
            <a:chExt cx="6865707" cy="1524454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210800" y="2362200"/>
              <a:ext cx="6865706" cy="1257300"/>
            </a:xfrm>
            <a:prstGeom prst="rect">
              <a:avLst/>
            </a:prstGeom>
          </p:spPr>
        </p:pic>
        <p:sp>
          <p:nvSpPr>
            <p:cNvPr id="24" name="TextBox 17"/>
            <p:cNvSpPr txBox="1"/>
            <p:nvPr/>
          </p:nvSpPr>
          <p:spPr>
            <a:xfrm>
              <a:off x="10210799" y="2095046"/>
              <a:ext cx="6528435" cy="267154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DragonController.cs</a:t>
              </a:r>
              <a:r>
                <a:rPr lang="en-US" sz="1500" b="1" i="0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– </a:t>
              </a:r>
              <a:r>
                <a:rPr lang="ko-KR" alt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지상 공격 패턴 중 </a:t>
              </a:r>
              <a:r>
                <a:rPr lang="en-US" altLang="ko-KR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Claw </a:t>
              </a:r>
              <a:r>
                <a:rPr lang="ko-KR" alt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공격의 히트 박스 활성화</a:t>
              </a:r>
              <a:r>
                <a:rPr lang="en-US" altLang="ko-KR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비활성화</a:t>
              </a:r>
              <a:endParaRPr lang="ko-KR" altLang="en-US" sz="1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27" name="TextBox 12"/>
          <p:cNvSpPr txBox="1"/>
          <p:nvPr/>
        </p:nvSpPr>
        <p:spPr>
          <a:xfrm>
            <a:off x="1302049" y="1142999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Hitbox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및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이펙트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처리</a:t>
            </a:r>
            <a:endParaRPr lang="ko-KR" altLang="en-US" sz="46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8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Claw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 Flame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히트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처리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방식</a:t>
            </a:r>
            <a:endParaRPr lang="ko-KR" altLang="en-US" sz="20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9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30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31" name="슬라이드 번호 개체 틀 3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9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2514600"/>
            <a:ext cx="4711700" cy="26543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5700" y="2514600"/>
            <a:ext cx="4711700" cy="26543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226801" y="2527300"/>
            <a:ext cx="5842000" cy="5182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반복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생성되는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몬스터들은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SpawningPool → PoolManager → ObjectManager </a:t>
            </a:r>
            <a:r>
              <a:rPr lang="ko-KR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흐름으로</a:t>
            </a:r>
            <a:r>
              <a:rPr lang="en-US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관리됩니다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PoolManager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비활성화된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오브젝트를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재사용하고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부족할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경우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ObjectManager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새로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생성합니다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죽은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몬스터는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SetActive(false)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풀에</a:t>
            </a:r>
            <a:r>
              <a:rPr lang="en-US" altLang="ko-KR" sz="24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보관되고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일정시간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SpawningPool</a:t>
            </a:r>
            <a:r>
              <a:rPr lang="ko-KR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24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 err="1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리스폰</a:t>
            </a:r>
            <a:r>
              <a:rPr lang="en-US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위치에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다시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배치됩니다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이로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인해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런타임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성능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저하를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방지하고</a:t>
            </a:r>
            <a:r>
              <a:rPr lang="en-US" sz="2400" b="1" i="0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GC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sz="2400" b="1" i="0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가비지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컬렉션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발생을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최소화했습니다</a:t>
            </a:r>
            <a:r>
              <a:rPr 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2400" b="1" i="0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171634" y="5442734"/>
            <a:ext cx="3289056" cy="2770710"/>
            <a:chOff x="7174771" y="5400787"/>
            <a:chExt cx="3033319" cy="2770710"/>
          </a:xfrm>
        </p:grpSpPr>
        <p:pic>
          <p:nvPicPr>
            <p:cNvPr id="31" name="Picture 3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8392717" y="6022751"/>
              <a:ext cx="571500" cy="444500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7503719" y="5400787"/>
              <a:ext cx="2235200" cy="406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[ </a:t>
              </a:r>
              <a:r>
                <a:rPr lang="ko-KR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몬스터</a:t>
              </a:r>
              <a:r>
                <a:rPr lang="en-US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사망</a:t>
              </a:r>
              <a:r>
                <a:rPr lang="en-US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]</a:t>
              </a:r>
            </a:p>
          </p:txBody>
        </p:sp>
        <p:pic>
          <p:nvPicPr>
            <p:cNvPr id="33" name="Picture 3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8392718" y="7147925"/>
              <a:ext cx="571500" cy="444500"/>
            </a:xfrm>
            <a:prstGeom prst="rect">
              <a:avLst/>
            </a:prstGeom>
          </p:spPr>
        </p:pic>
        <p:sp>
          <p:nvSpPr>
            <p:cNvPr id="35" name="TextBox 35"/>
            <p:cNvSpPr txBox="1"/>
            <p:nvPr/>
          </p:nvSpPr>
          <p:spPr>
            <a:xfrm>
              <a:off x="7174771" y="6455942"/>
              <a:ext cx="3033319" cy="53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2000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ObjectManager.Despawn()</a:t>
              </a:r>
            </a:p>
          </p:txBody>
        </p:sp>
        <p:sp>
          <p:nvSpPr>
            <p:cNvPr id="49" name="TextBox 35"/>
            <p:cNvSpPr txBox="1"/>
            <p:nvPr/>
          </p:nvSpPr>
          <p:spPr>
            <a:xfrm>
              <a:off x="7174771" y="7638097"/>
              <a:ext cx="3033319" cy="533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altLang="ko-KR" sz="2000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obj.SetActive(false)</a:t>
              </a:r>
            </a:p>
          </p:txBody>
        </p:sp>
      </p:grpSp>
      <p:grpSp>
        <p:nvGrpSpPr>
          <p:cNvPr id="19" name="그룹 18"/>
          <p:cNvGrpSpPr/>
          <p:nvPr/>
        </p:nvGrpSpPr>
        <p:grpSpPr>
          <a:xfrm>
            <a:off x="1610959" y="5442734"/>
            <a:ext cx="4509165" cy="4064337"/>
            <a:chOff x="1610959" y="5442734"/>
            <a:chExt cx="4509165" cy="4064337"/>
          </a:xfrm>
        </p:grpSpPr>
        <p:grpSp>
          <p:nvGrpSpPr>
            <p:cNvPr id="14" name="그룹 13"/>
            <p:cNvGrpSpPr/>
            <p:nvPr/>
          </p:nvGrpSpPr>
          <p:grpSpPr>
            <a:xfrm>
              <a:off x="1894343" y="5908005"/>
              <a:ext cx="4225781" cy="3599066"/>
              <a:chOff x="2093451" y="5334227"/>
              <a:chExt cx="4225781" cy="3599066"/>
            </a:xfrm>
          </p:grpSpPr>
          <p:pic>
            <p:nvPicPr>
              <p:cNvPr id="13" name="Picture 13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5400000">
                <a:off x="3500136" y="5817207"/>
                <a:ext cx="571500" cy="444500"/>
              </a:xfrm>
              <a:prstGeom prst="rect">
                <a:avLst/>
              </a:prstGeom>
            </p:spPr>
          </p:pic>
          <p:sp>
            <p:nvSpPr>
              <p:cNvPr id="17" name="TextBox 17"/>
              <p:cNvSpPr txBox="1"/>
              <p:nvPr/>
            </p:nvSpPr>
            <p:spPr>
              <a:xfrm>
                <a:off x="4096732" y="5898711"/>
                <a:ext cx="2222500" cy="2921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l">
                  <a:lnSpc>
                    <a:spcPct val="99600"/>
                  </a:lnSpc>
                </a:pPr>
                <a:r>
                  <a:rPr lang="en-US" sz="20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GetObject&lt;T&gt;()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096732" y="6990801"/>
                <a:ext cx="2222500" cy="2921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l">
                  <a:lnSpc>
                    <a:spcPct val="99600"/>
                  </a:lnSpc>
                </a:pPr>
                <a:r>
                  <a:rPr lang="ko-KR" sz="20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없으면</a:t>
                </a:r>
                <a:r>
                  <a:rPr lang="en-US" sz="20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20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새로</a:t>
                </a:r>
                <a:r>
                  <a:rPr lang="en-US" sz="20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20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생성</a:t>
                </a:r>
              </a:p>
            </p:txBody>
          </p:sp>
          <p:sp>
            <p:nvSpPr>
              <p:cNvPr id="40" name="TextBox 16"/>
              <p:cNvSpPr txBox="1"/>
              <p:nvPr/>
            </p:nvSpPr>
            <p:spPr>
              <a:xfrm>
                <a:off x="2093452" y="5334227"/>
                <a:ext cx="3384867" cy="31064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ctr">
                  <a:lnSpc>
                    <a:spcPct val="99600"/>
                  </a:lnSpc>
                </a:pPr>
                <a:r>
                  <a:rPr lang="en-US" sz="2000" i="0" u="none" strike="noStrike" dirty="0" smtClean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SpawningPool.cs</a:t>
                </a:r>
                <a:endParaRPr lang="en-US" sz="2000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  <p:sp>
            <p:nvSpPr>
              <p:cNvPr id="44" name="TextBox 16"/>
              <p:cNvSpPr txBox="1"/>
              <p:nvPr/>
            </p:nvSpPr>
            <p:spPr>
              <a:xfrm>
                <a:off x="2093453" y="6434044"/>
                <a:ext cx="3384867" cy="313524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ctr">
                  <a:lnSpc>
                    <a:spcPct val="99600"/>
                  </a:lnSpc>
                </a:pPr>
                <a:r>
                  <a:rPr lang="en-US" altLang="ko-KR" sz="2000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PoolManager.cs</a:t>
                </a:r>
              </a:p>
            </p:txBody>
          </p:sp>
          <p:pic>
            <p:nvPicPr>
              <p:cNvPr id="45" name="Picture 13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5400000">
                <a:off x="3500136" y="6916644"/>
                <a:ext cx="571500" cy="444500"/>
              </a:xfrm>
              <a:prstGeom prst="rect">
                <a:avLst/>
              </a:prstGeom>
            </p:spPr>
          </p:pic>
          <p:sp>
            <p:nvSpPr>
              <p:cNvPr id="46" name="TextBox 16"/>
              <p:cNvSpPr txBox="1"/>
              <p:nvPr/>
            </p:nvSpPr>
            <p:spPr>
              <a:xfrm>
                <a:off x="2093451" y="7526134"/>
                <a:ext cx="3384867" cy="31628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ctr">
                  <a:lnSpc>
                    <a:spcPct val="99600"/>
                  </a:lnSpc>
                </a:pPr>
                <a:r>
                  <a:rPr lang="en-US" altLang="ko-KR" sz="2000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ObjectManager.cs</a:t>
                </a:r>
              </a:p>
            </p:txBody>
          </p:sp>
          <p:pic>
            <p:nvPicPr>
              <p:cNvPr id="47" name="Picture 13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5400000">
                <a:off x="3500136" y="8007408"/>
                <a:ext cx="571500" cy="444500"/>
              </a:xfrm>
              <a:prstGeom prst="rect">
                <a:avLst/>
              </a:prstGeom>
            </p:spPr>
          </p:pic>
          <p:sp>
            <p:nvSpPr>
              <p:cNvPr id="48" name="TextBox 16"/>
              <p:cNvSpPr txBox="1"/>
              <p:nvPr/>
            </p:nvSpPr>
            <p:spPr>
              <a:xfrm>
                <a:off x="2093453" y="8634730"/>
                <a:ext cx="3384867" cy="298563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ctr">
                  <a:lnSpc>
                    <a:spcPct val="99600"/>
                  </a:lnSpc>
                </a:pPr>
                <a:r>
                  <a:rPr lang="en-US" altLang="ko-KR" sz="2000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Instantiate(prefab)</a:t>
                </a:r>
              </a:p>
            </p:txBody>
          </p:sp>
        </p:grpSp>
        <p:sp>
          <p:nvSpPr>
            <p:cNvPr id="42" name="TextBox 32"/>
            <p:cNvSpPr txBox="1"/>
            <p:nvPr/>
          </p:nvSpPr>
          <p:spPr>
            <a:xfrm>
              <a:off x="1610959" y="5442734"/>
              <a:ext cx="3951641" cy="406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[ </a:t>
              </a:r>
              <a:r>
                <a:rPr lang="ko-KR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몬스터</a:t>
              </a:r>
              <a:r>
                <a:rPr lang="en-US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en-US" sz="2300" dirty="0" smtClean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Pool </a:t>
              </a:r>
              <a:r>
                <a:rPr lang="ko-KR" altLang="en-US" sz="2300" dirty="0" smtClean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관리 흐름도</a:t>
              </a:r>
              <a:r>
                <a:rPr lang="en-US" sz="2300" b="0" i="0" u="none" strike="noStrike" dirty="0" smtClean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en-US" sz="2300" b="0" i="0" u="none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]</a:t>
              </a:r>
            </a:p>
          </p:txBody>
        </p:sp>
      </p:grpSp>
      <p:sp>
        <p:nvSpPr>
          <p:cNvPr id="41" name="TextBox 12"/>
          <p:cNvSpPr txBox="1"/>
          <p:nvPr/>
        </p:nvSpPr>
        <p:spPr>
          <a:xfrm>
            <a:off x="1302049" y="1142999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Object / Pool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관리</a:t>
            </a:r>
            <a:endParaRPr lang="ko-KR" altLang="en-US" sz="46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3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PoolManager, ObjectManager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구조로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성능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최적화</a:t>
            </a:r>
            <a:endParaRPr lang="ko-KR" altLang="en-US" sz="20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1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8" name="슬라이드 번호 개체 틀 7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10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9372600" y="6326231"/>
            <a:ext cx="7620000" cy="3382917"/>
            <a:chOff x="9372600" y="6326231"/>
            <a:chExt cx="7620000" cy="3382917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72600" y="6730161"/>
              <a:ext cx="7620000" cy="800100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372600" y="7573307"/>
              <a:ext cx="7620000" cy="2135841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9372600" y="6326231"/>
              <a:ext cx="4876800" cy="5588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24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&lt;ObjectManager.cs&gt;</a:t>
              </a: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1302048" y="2352025"/>
            <a:ext cx="7683202" cy="7357124"/>
            <a:chOff x="1302048" y="2352025"/>
            <a:chExt cx="7683202" cy="7357124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02048" y="2844166"/>
              <a:ext cx="7683202" cy="6864983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1308100" y="2352025"/>
              <a:ext cx="4877435" cy="5594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24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&lt;PoolManager.cs&gt;</a:t>
              </a:r>
              <a:endParaRPr lang="ko-KR" altLang="en-US" sz="24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22" name="TextBox 12"/>
          <p:cNvSpPr txBox="1"/>
          <p:nvPr/>
        </p:nvSpPr>
        <p:spPr>
          <a:xfrm>
            <a:off x="1302049" y="1142999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Object / Pool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관리</a:t>
            </a:r>
            <a:endParaRPr lang="ko-KR" altLang="en-US" sz="46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3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PoolManager, ObjectManager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구조로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성능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최적화</a:t>
            </a:r>
            <a:endParaRPr lang="ko-KR" altLang="en-US" sz="20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9372599" y="2445066"/>
            <a:ext cx="7620000" cy="3612834"/>
            <a:chOff x="9372599" y="2445066"/>
            <a:chExt cx="7620000" cy="3612834"/>
          </a:xfrm>
        </p:grpSpPr>
        <p:sp>
          <p:nvSpPr>
            <p:cNvPr id="15" name="TextBox 15"/>
            <p:cNvSpPr txBox="1"/>
            <p:nvPr/>
          </p:nvSpPr>
          <p:spPr>
            <a:xfrm>
              <a:off x="9377082" y="2445066"/>
              <a:ext cx="4876800" cy="5588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24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&lt;SpawningPool.cs&gt;</a:t>
              </a:r>
            </a:p>
          </p:txBody>
        </p:sp>
        <p:grpSp>
          <p:nvGrpSpPr>
            <p:cNvPr id="24" name="그룹 23"/>
            <p:cNvGrpSpPr/>
            <p:nvPr/>
          </p:nvGrpSpPr>
          <p:grpSpPr>
            <a:xfrm>
              <a:off x="9372599" y="2844166"/>
              <a:ext cx="7620000" cy="3213734"/>
              <a:chOff x="9380900" y="2844166"/>
              <a:chExt cx="6836076" cy="2856716"/>
            </a:xfrm>
          </p:grpSpPr>
          <p:pic>
            <p:nvPicPr>
              <p:cNvPr id="10" name="그림 9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380900" y="3671774"/>
                <a:ext cx="6836076" cy="2029108"/>
              </a:xfrm>
              <a:prstGeom prst="rect">
                <a:avLst/>
              </a:prstGeom>
            </p:spPr>
          </p:pic>
          <p:pic>
            <p:nvPicPr>
              <p:cNvPr id="11" name="그림 10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380900" y="2844166"/>
                <a:ext cx="6836076" cy="781159"/>
              </a:xfrm>
              <a:prstGeom prst="rect">
                <a:avLst/>
              </a:prstGeom>
            </p:spPr>
          </p:pic>
        </p:grpSp>
      </p:grpSp>
      <p:sp>
        <p:nvSpPr>
          <p:cNvPr id="28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9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30" name="슬라이드 번호 개체 틀 29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11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2049" y="2223155"/>
            <a:ext cx="4215745" cy="2348772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049" y="4813300"/>
            <a:ext cx="4215745" cy="2336727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094" y="7391400"/>
            <a:ext cx="4203700" cy="2348772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1353800" y="1774535"/>
            <a:ext cx="5660577" cy="505633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플레이어가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NPC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근처에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접근하면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NPCDistance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감지하여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대화</a:t>
            </a:r>
            <a: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UI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활성화가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가능해집니다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 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300" b="1" i="0" u="none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대화는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TalkManager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키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기반으로</a:t>
            </a:r>
            <a: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분기되며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퀘스트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수락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여부에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따라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QuestManager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처리합니다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 </a:t>
            </a:r>
            <a:endParaRPr lang="en-US" sz="2300" b="1" i="0" u="none" strike="noStrike" dirty="0" smtClean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300" b="1" i="0" u="none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수락된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퀘스트는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UI_Quest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팝업</a:t>
            </a:r>
            <a: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형태로</a:t>
            </a:r>
            <a:r>
              <a:rPr lang="en-US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표시됩니다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300" b="1" i="0" u="none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UI_Quest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OnQuestUpdate </a:t>
            </a: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이벤트를</a:t>
            </a:r>
            <a: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3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통해</a:t>
            </a:r>
            <a:r>
              <a:rPr lang="en-US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실시칸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퀘스트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정보를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표시하며</a:t>
            </a:r>
            <a:r>
              <a:rPr lang="en-US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br>
              <a:rPr lang="en-US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300" b="1" i="0" u="none" strike="noStrike" dirty="0" err="1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진행도에</a:t>
            </a:r>
            <a:r>
              <a:rPr lang="en-US" sz="23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따라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자동으로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내용이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갱신됩니다</a:t>
            </a:r>
            <a:r>
              <a:rPr lang="en-US" sz="23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5718598" y="5013645"/>
            <a:ext cx="5055799" cy="1923939"/>
            <a:chOff x="5740400" y="4864100"/>
            <a:chExt cx="5080000" cy="19558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40400" y="5143500"/>
              <a:ext cx="5080000" cy="167640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5740400" y="4864100"/>
              <a:ext cx="2832735" cy="2673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UI_Quest.cs -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수락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팝업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표시</a:t>
              </a:r>
              <a:endParaRPr lang="ko-KR" altLang="en-US" sz="1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19" name="그룹 18"/>
          <p:cNvGrpSpPr/>
          <p:nvPr/>
        </p:nvGrpSpPr>
        <p:grpSpPr>
          <a:xfrm>
            <a:off x="5718598" y="2429985"/>
            <a:ext cx="3766571" cy="1936433"/>
            <a:chOff x="1168400" y="4851400"/>
            <a:chExt cx="3784600" cy="1968500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68400" y="5143500"/>
              <a:ext cx="3784600" cy="16764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1168400" y="4851400"/>
              <a:ext cx="2870835" cy="2673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QuestManager.cs -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퀘스트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수락</a:t>
              </a:r>
              <a:endParaRPr lang="ko-KR" altLang="en-US" sz="1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5718598" y="7472973"/>
            <a:ext cx="5169555" cy="2216615"/>
            <a:chOff x="5778500" y="7414114"/>
            <a:chExt cx="5194300" cy="2364886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778500" y="7708900"/>
              <a:ext cx="5194300" cy="2070100"/>
            </a:xfrm>
            <a:prstGeom prst="rect">
              <a:avLst/>
            </a:prstGeom>
          </p:spPr>
        </p:pic>
        <p:sp>
          <p:nvSpPr>
            <p:cNvPr id="18" name="TextBox 18"/>
            <p:cNvSpPr txBox="1"/>
            <p:nvPr/>
          </p:nvSpPr>
          <p:spPr>
            <a:xfrm>
              <a:off x="5786456" y="7414114"/>
              <a:ext cx="3340735" cy="267335"/>
            </a:xfrm>
            <a:prstGeom prst="rect">
              <a:avLst/>
            </a:prstGeom>
          </p:spPr>
          <p:txBody>
            <a:bodyPr vert="horz" wrap="square" lIns="0" tIns="0" rIns="0" bIns="0" numCol="1" anchor="ctr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TalkManager.cs -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수락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분기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대사</a:t>
              </a:r>
              <a:r>
                <a:rPr lang="en-US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처리</a:t>
              </a:r>
              <a:endParaRPr lang="ko-KR" altLang="en-US" sz="1500" b="1" i="0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11494507" y="7173113"/>
            <a:ext cx="5117093" cy="2490422"/>
            <a:chOff x="11328399" y="7747000"/>
            <a:chExt cx="5117093" cy="2196485"/>
          </a:xfrm>
        </p:grpSpPr>
        <p:pic>
          <p:nvPicPr>
            <p:cNvPr id="20" name="Picture 20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328399" y="7747000"/>
              <a:ext cx="733611" cy="622300"/>
            </a:xfrm>
            <a:prstGeom prst="rect">
              <a:avLst/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12084422" y="7912100"/>
              <a:ext cx="2654935" cy="419735"/>
            </a:xfrm>
            <a:prstGeom prst="rect">
              <a:avLst/>
            </a:prstGeom>
          </p:spPr>
          <p:txBody>
            <a:bodyPr vert="horz" wrap="square" lIns="0" tIns="0" rIns="0" bIns="0" numCol="1" anchor="t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240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구현</a:t>
              </a:r>
              <a:r>
                <a:rPr lang="en-US" sz="240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포인트</a:t>
              </a:r>
              <a:r>
                <a:rPr lang="en-US" sz="240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요약</a:t>
              </a:r>
              <a:endParaRPr lang="ko-KR" altLang="en-US" sz="240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328399" y="8420100"/>
              <a:ext cx="5117093" cy="1523385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NPC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거리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인식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→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스페이스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바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클릭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대화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노출</a:t>
              </a: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대사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키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기반으로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수락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진행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완료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분기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처리</a:t>
              </a: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OnQuestUpdate</a:t>
              </a:r>
              <a:r>
                <a:rPr lang="ko-KR" sz="1800" b="1" i="0" u="none" strike="noStrike" dirty="0" err="1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를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통한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연동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갱신</a:t>
              </a: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타이핑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효과</a:t>
              </a:r>
              <a:r>
                <a:rPr lang="en-US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연출</a:t>
              </a:r>
            </a:p>
          </p:txBody>
        </p:sp>
      </p:grpSp>
      <p:sp>
        <p:nvSpPr>
          <p:cNvPr id="31" name="TextBox 12"/>
          <p:cNvSpPr txBox="1"/>
          <p:nvPr/>
        </p:nvSpPr>
        <p:spPr>
          <a:xfrm>
            <a:off x="1302049" y="1142999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퀘스트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시스템</a:t>
            </a:r>
            <a:endParaRPr lang="ko-KR" altLang="en-US" sz="46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32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NPC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거리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인식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+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퀘스트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흐름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</a:t>
            </a:r>
            <a:endParaRPr lang="ko-KR" altLang="en-US" sz="20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3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34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1" name="슬라이드 번호 개체 틀 10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12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grpSp>
        <p:nvGrpSpPr>
          <p:cNvPr id="48" name="그룹 47"/>
          <p:cNvGrpSpPr/>
          <p:nvPr/>
        </p:nvGrpSpPr>
        <p:grpSpPr>
          <a:xfrm>
            <a:off x="1472642" y="7107417"/>
            <a:ext cx="5849090" cy="2519826"/>
            <a:chOff x="1272365" y="6972300"/>
            <a:chExt cx="6892545" cy="3214369"/>
          </a:xfrm>
        </p:grpSpPr>
        <p:grpSp>
          <p:nvGrpSpPr>
            <p:cNvPr id="44" name="그룹 43"/>
            <p:cNvGrpSpPr/>
            <p:nvPr/>
          </p:nvGrpSpPr>
          <p:grpSpPr>
            <a:xfrm>
              <a:off x="1295400" y="6972300"/>
              <a:ext cx="1752600" cy="571500"/>
              <a:chOff x="1460500" y="2387600"/>
              <a:chExt cx="1752600" cy="571500"/>
            </a:xfrm>
          </p:grpSpPr>
          <p:pic>
            <p:nvPicPr>
              <p:cNvPr id="12" name="Picture 1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60500" y="2387600"/>
                <a:ext cx="1752600" cy="571500"/>
              </a:xfrm>
              <a:prstGeom prst="rect">
                <a:avLst/>
              </a:prstGeom>
            </p:spPr>
          </p:pic>
          <p:sp>
            <p:nvSpPr>
              <p:cNvPr id="13" name="TextBox 13"/>
              <p:cNvSpPr txBox="1"/>
              <p:nvPr/>
            </p:nvSpPr>
            <p:spPr>
              <a:xfrm>
                <a:off x="1778000" y="2501900"/>
                <a:ext cx="1130300" cy="3683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ctr">
                  <a:lnSpc>
                    <a:spcPct val="99600"/>
                  </a:lnSpc>
                </a:pPr>
                <a:r>
                  <a:rPr lang="en-US" b="0" i="0" u="none" strike="noStrike" dirty="0">
                    <a:solidFill>
                      <a:srgbClr val="FBFBFB"/>
                    </a:solidFill>
                    <a:latin typeface="Pretendard Black" panose="02000A03000000020004" pitchFamily="2" charset="-127"/>
                    <a:ea typeface="Pretendard Black" panose="02000A03000000020004" pitchFamily="2" charset="-127"/>
                    <a:cs typeface="Pretendard Black" panose="02000A03000000020004" pitchFamily="2" charset="-127"/>
                  </a:rPr>
                  <a:t>UI_Base</a:t>
                </a:r>
              </a:p>
            </p:txBody>
          </p:sp>
        </p:grpSp>
        <p:grpSp>
          <p:nvGrpSpPr>
            <p:cNvPr id="43" name="그룹 42"/>
            <p:cNvGrpSpPr/>
            <p:nvPr/>
          </p:nvGrpSpPr>
          <p:grpSpPr>
            <a:xfrm>
              <a:off x="1272365" y="7544434"/>
              <a:ext cx="6892545" cy="2642235"/>
              <a:chOff x="1169701" y="3156267"/>
              <a:chExt cx="6892545" cy="2642235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1169701" y="3156267"/>
                <a:ext cx="1791448" cy="264223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ctr">
                  <a:lnSpc>
                    <a:spcPct val="150000"/>
                  </a:lnSpc>
                </a:pPr>
                <a:r>
                  <a:rPr lang="en-US" b="0" i="0" u="none" strike="noStrike" dirty="0" smtClean="0">
                    <a:solidFill>
                      <a:srgbClr val="363D62"/>
                    </a:solidFill>
                    <a:latin typeface="Pretendard Black" panose="02000A03000000020004" pitchFamily="2" charset="-127"/>
                    <a:ea typeface="Pretendard Black" panose="02000A03000000020004" pitchFamily="2" charset="-127"/>
                    <a:cs typeface="Pretendard Black" panose="02000A03000000020004" pitchFamily="2" charset="-127"/>
                  </a:rPr>
                  <a:t>UI_Menu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 Black" panose="02000A03000000020004" pitchFamily="2" charset="-127"/>
                    <a:ea typeface="Pretendard Black" panose="02000A03000000020004" pitchFamily="2" charset="-127"/>
                    <a:cs typeface="Pretendard Black" panose="02000A03000000020004" pitchFamily="2" charset="-127"/>
                  </a:rPr>
                  <a:t>UI_Boss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 Black" panose="02000A03000000020004" pitchFamily="2" charset="-127"/>
                    <a:ea typeface="Pretendard Black" panose="02000A03000000020004" pitchFamily="2" charset="-127"/>
                    <a:cs typeface="Pretendard Black" panose="02000A03000000020004" pitchFamily="2" charset="-127"/>
                  </a:rPr>
                  <a:t>UI_Quest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 Black" panose="02000A03000000020004" pitchFamily="2" charset="-127"/>
                    <a:ea typeface="Pretendard Black" panose="02000A03000000020004" pitchFamily="2" charset="-127"/>
                    <a:cs typeface="Pretendard Black" panose="02000A03000000020004" pitchFamily="2" charset="-127"/>
                  </a:rPr>
                  <a:t>UI_Status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dirty="0" smtClean="0">
                    <a:solidFill>
                      <a:srgbClr val="363D62"/>
                    </a:solidFill>
                    <a:latin typeface="Pretendard Black" panose="02000A03000000020004" pitchFamily="2" charset="-127"/>
                    <a:ea typeface="Pretendard Black" panose="02000A03000000020004" pitchFamily="2" charset="-127"/>
                    <a:cs typeface="Pretendard Black" panose="02000A03000000020004" pitchFamily="2" charset="-127"/>
                  </a:rPr>
                  <a:t>UI_Setting</a:t>
                </a:r>
                <a:endParaRPr lang="en-US" altLang="ko-KR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2965661" y="3177337"/>
                <a:ext cx="5096585" cy="2539487"/>
              </a:xfrm>
              <a:prstGeom prst="rect">
                <a:avLst/>
              </a:prstGeom>
            </p:spPr>
            <p:txBody>
              <a:bodyPr lIns="0" tIns="0" rIns="0" bIns="0" rtlCol="0" anchor="t"/>
              <a:lstStyle/>
              <a:p>
                <a:pPr lvl="0" algn="l">
                  <a:lnSpc>
                    <a:spcPct val="150000"/>
                  </a:lnSpc>
                </a:pPr>
                <a:r>
                  <a:rPr lang="en-US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← </a:t>
                </a:r>
                <a:r>
                  <a:rPr lang="ko-KR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메뉴</a:t>
                </a:r>
                <a:r>
                  <a:rPr lang="en-US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패널</a:t>
                </a:r>
                <a:r>
                  <a:rPr lang="en-US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열기</a:t>
                </a:r>
                <a:r>
                  <a:rPr lang="en-US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/</a:t>
                </a:r>
                <a:r>
                  <a:rPr lang="ko-KR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닫기</a:t>
                </a:r>
                <a:r>
                  <a:rPr lang="en-US" b="0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+ </a:t>
                </a:r>
                <a:r>
                  <a:rPr lang="ko-KR" b="0" i="0" u="none" strike="noStrike" dirty="0" smtClean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애니메이션</a:t>
                </a:r>
                <a:endParaRPr lang="en-US" altLang="ko-KR" b="0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←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보스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버튼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클릭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→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씬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전환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+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포탈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 smtClean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이펙트</a:t>
                </a:r>
                <a:endParaRPr lang="en-US" altLang="ko-KR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←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퀘스트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수락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시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팝업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,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실시간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 err="1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킬카운트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 smtClean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반영</a:t>
                </a:r>
                <a:endParaRPr lang="en-US" altLang="ko-KR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←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레벨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, HP, EXP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실시간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 smtClean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반영</a:t>
                </a:r>
                <a:endParaRPr lang="en-US" altLang="ko-KR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←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게임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정보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,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종료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, </a:t>
                </a:r>
                <a:r>
                  <a:rPr lang="ko-KR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설정</a:t>
                </a:r>
                <a:r>
                  <a:rPr lang="en-US" altLang="ko-KR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ko-KR" dirty="0" smtClean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패널</a:t>
                </a:r>
                <a:endParaRPr lang="ko-KR" b="0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49" name="그룹 48"/>
          <p:cNvGrpSpPr/>
          <p:nvPr/>
        </p:nvGrpSpPr>
        <p:grpSpPr>
          <a:xfrm>
            <a:off x="8498541" y="6840245"/>
            <a:ext cx="7238558" cy="2951455"/>
            <a:chOff x="8687242" y="6844024"/>
            <a:chExt cx="7238558" cy="2951455"/>
          </a:xfrm>
        </p:grpSpPr>
        <p:pic>
          <p:nvPicPr>
            <p:cNvPr id="35" name="Picture 3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87242" y="6844024"/>
              <a:ext cx="659958" cy="622300"/>
            </a:xfrm>
            <a:prstGeom prst="rect">
              <a:avLst/>
            </a:prstGeom>
          </p:spPr>
        </p:pic>
        <p:sp>
          <p:nvSpPr>
            <p:cNvPr id="36" name="TextBox 36"/>
            <p:cNvSpPr txBox="1"/>
            <p:nvPr/>
          </p:nvSpPr>
          <p:spPr>
            <a:xfrm>
              <a:off x="9507385" y="7009124"/>
              <a:ext cx="3459309" cy="419735"/>
            </a:xfrm>
            <a:prstGeom prst="rect">
              <a:avLst/>
            </a:prstGeom>
          </p:spPr>
          <p:txBody>
            <a:bodyPr vert="horz" wrap="square" lIns="0" tIns="0" rIns="0" bIns="0" numCol="1" anchor="t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구현</a:t>
              </a:r>
              <a:r>
                <a:rPr lang="en-US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포인트</a:t>
              </a:r>
              <a:r>
                <a:rPr lang="en-US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요약</a:t>
              </a:r>
              <a:endParaRPr lang="ko-KR" altLang="en-US" sz="24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60218" y="7560279"/>
              <a:ext cx="7165582" cy="22352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모든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는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UI_Base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상속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→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공통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해상도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/Canvas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설정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통일</a:t>
              </a: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상태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변경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이벤트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(OnQuestUpdate, OnPlayerInfoChanged)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기반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실시간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반영</a:t>
              </a: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UI_Menu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는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클릭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영역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분리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슬라이딩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애니메이션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처리</a:t>
              </a: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UI_Boss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는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클릭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→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효과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출력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→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씬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전환까지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통합</a:t>
              </a:r>
              <a:r>
                <a:rPr lang="en-US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800" b="1" i="0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설계</a:t>
              </a:r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7239000" y="2444554"/>
            <a:ext cx="9829801" cy="3820322"/>
            <a:chOff x="7425618" y="2444554"/>
            <a:chExt cx="9645812" cy="3575811"/>
          </a:xfrm>
        </p:grpSpPr>
        <p:grpSp>
          <p:nvGrpSpPr>
            <p:cNvPr id="8" name="그룹 7"/>
            <p:cNvGrpSpPr/>
            <p:nvPr/>
          </p:nvGrpSpPr>
          <p:grpSpPr>
            <a:xfrm>
              <a:off x="11775197" y="3784796"/>
              <a:ext cx="5296233" cy="2235569"/>
              <a:chOff x="12001398" y="1498600"/>
              <a:chExt cx="5533006" cy="2513244"/>
            </a:xfrm>
          </p:grpSpPr>
          <p:pic>
            <p:nvPicPr>
              <p:cNvPr id="22" name="Picture 22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001398" y="1814744"/>
                <a:ext cx="5533006" cy="2197100"/>
              </a:xfrm>
              <a:prstGeom prst="rect">
                <a:avLst/>
              </a:prstGeom>
            </p:spPr>
          </p:pic>
          <p:sp>
            <p:nvSpPr>
              <p:cNvPr id="32" name="TextBox 32"/>
              <p:cNvSpPr txBox="1"/>
              <p:nvPr/>
            </p:nvSpPr>
            <p:spPr>
              <a:xfrm>
                <a:off x="12039600" y="1498600"/>
                <a:ext cx="3340100" cy="2667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l">
                  <a:lnSpc>
                    <a:spcPct val="99600"/>
                  </a:lnSpc>
                </a:pP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UI_Base -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모든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UI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의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공통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캔버스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설정</a:t>
                </a:r>
              </a:p>
            </p:txBody>
          </p:sp>
        </p:grpSp>
        <p:grpSp>
          <p:nvGrpSpPr>
            <p:cNvPr id="42" name="그룹 41"/>
            <p:cNvGrpSpPr/>
            <p:nvPr/>
          </p:nvGrpSpPr>
          <p:grpSpPr>
            <a:xfrm>
              <a:off x="7438318" y="3784796"/>
              <a:ext cx="3800762" cy="1584708"/>
              <a:chOff x="7683500" y="6794500"/>
              <a:chExt cx="3925057" cy="1991746"/>
            </a:xfrm>
          </p:grpSpPr>
          <p:pic>
            <p:nvPicPr>
              <p:cNvPr id="23" name="Picture 23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83501" y="7147946"/>
                <a:ext cx="3925056" cy="1638300"/>
              </a:xfrm>
              <a:prstGeom prst="rect">
                <a:avLst/>
              </a:prstGeom>
            </p:spPr>
          </p:pic>
          <p:sp>
            <p:nvSpPr>
              <p:cNvPr id="33" name="TextBox 33"/>
              <p:cNvSpPr txBox="1"/>
              <p:nvPr/>
            </p:nvSpPr>
            <p:spPr>
              <a:xfrm>
                <a:off x="7683500" y="6794500"/>
                <a:ext cx="3340100" cy="2667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l">
                  <a:lnSpc>
                    <a:spcPct val="99600"/>
                  </a:lnSpc>
                </a:pP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UI_Boss -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보스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버튼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→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씬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전환</a:t>
                </a:r>
              </a:p>
            </p:txBody>
          </p:sp>
        </p:grpSp>
        <p:grpSp>
          <p:nvGrpSpPr>
            <p:cNvPr id="34" name="그룹 33"/>
            <p:cNvGrpSpPr/>
            <p:nvPr/>
          </p:nvGrpSpPr>
          <p:grpSpPr>
            <a:xfrm>
              <a:off x="7425618" y="2444554"/>
              <a:ext cx="5698192" cy="1130300"/>
              <a:chOff x="5854700" y="5359400"/>
              <a:chExt cx="6172200" cy="1130300"/>
            </a:xfrm>
          </p:grpSpPr>
          <p:pic>
            <p:nvPicPr>
              <p:cNvPr id="24" name="Picture 24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854700" y="5626100"/>
                <a:ext cx="6172200" cy="863600"/>
              </a:xfrm>
              <a:prstGeom prst="rect">
                <a:avLst/>
              </a:prstGeom>
            </p:spPr>
          </p:pic>
          <p:sp>
            <p:nvSpPr>
              <p:cNvPr id="38" name="TextBox 38"/>
              <p:cNvSpPr txBox="1"/>
              <p:nvPr/>
            </p:nvSpPr>
            <p:spPr>
              <a:xfrm>
                <a:off x="5867400" y="5359400"/>
                <a:ext cx="3340100" cy="2667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lvl="0" algn="l">
                  <a:lnSpc>
                    <a:spcPct val="99600"/>
                  </a:lnSpc>
                </a:pP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UI_Status -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실시간</a:t>
                </a:r>
                <a:r>
                  <a:rPr lang="en-US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UI </a:t>
                </a:r>
                <a:r>
                  <a:rPr lang="ko-KR" sz="1500" b="1" i="0" u="none" strike="noStrike" dirty="0">
                    <a:solidFill>
                      <a:srgbClr val="363D6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반영</a:t>
                </a:r>
              </a:p>
            </p:txBody>
          </p:sp>
        </p:grpSp>
      </p:grpSp>
      <p:grpSp>
        <p:nvGrpSpPr>
          <p:cNvPr id="11" name="그룹 10"/>
          <p:cNvGrpSpPr/>
          <p:nvPr/>
        </p:nvGrpSpPr>
        <p:grpSpPr>
          <a:xfrm>
            <a:off x="1312208" y="2444554"/>
            <a:ext cx="5393392" cy="4456259"/>
            <a:chOff x="12039600" y="4166055"/>
            <a:chExt cx="5651500" cy="5359170"/>
          </a:xfrm>
        </p:grpSpPr>
        <p:pic>
          <p:nvPicPr>
            <p:cNvPr id="25" name="Picture 2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039600" y="4508725"/>
              <a:ext cx="5651500" cy="5016500"/>
            </a:xfrm>
            <a:prstGeom prst="rect">
              <a:avLst/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12057529" y="4166055"/>
              <a:ext cx="3340100" cy="266699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5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UI_Menu - </a:t>
              </a:r>
              <a:r>
                <a:rPr lang="ko-KR" sz="15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슬라이딩</a:t>
              </a:r>
              <a:r>
                <a:rPr lang="en-US" sz="15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애니메이션</a:t>
              </a:r>
              <a:r>
                <a:rPr lang="en-US" sz="15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처리</a:t>
              </a:r>
            </a:p>
          </p:txBody>
        </p:sp>
      </p:grpSp>
      <p:sp>
        <p:nvSpPr>
          <p:cNvPr id="50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1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2" name="TextBox 12"/>
          <p:cNvSpPr txBox="1"/>
          <p:nvPr/>
        </p:nvSpPr>
        <p:spPr>
          <a:xfrm>
            <a:off x="1302049" y="1142999"/>
            <a:ext cx="6299835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UI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시스템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설계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구조</a:t>
            </a:r>
            <a:endParaRPr lang="ko-KR" altLang="en-US" sz="46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53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공통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Canvas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ko-KR" sz="2000" b="1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모듈형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UI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구성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연동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</a:t>
            </a:r>
            <a:endParaRPr lang="ko-KR" altLang="en-US" sz="20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13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399" y="2577938"/>
            <a:ext cx="6715885" cy="3755119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990600" y="6693815"/>
            <a:ext cx="15925483" cy="280733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50000"/>
              </a:lnSpc>
            </a:pP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PlayerController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는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점프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사망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</a:t>
            </a:r>
            <a:r>
              <a:rPr lang="en-US" alt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모든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액션을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제어하며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b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WeaponHitbox</a:t>
            </a: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r>
              <a:rPr lang="en-US" alt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활성화되어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적의</a:t>
            </a:r>
            <a:r>
              <a:rPr lang="en-US" alt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IDamageable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인터페이스로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피해를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전달합니다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vl="0" algn="ctr">
              <a:lnSpc>
                <a:spcPct val="150000"/>
              </a:lnSpc>
            </a:pPr>
            <a:endParaRPr lang="en-US" sz="2400" b="1" i="0" u="none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vl="0" algn="ctr">
              <a:lnSpc>
                <a:spcPct val="150000"/>
              </a:lnSpc>
            </a:pP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상태는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PlayerStateMachineBehavior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관리되어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b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콤보</a:t>
            </a:r>
            <a:r>
              <a:rPr lang="en-US" sz="24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흐름과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무기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이펙트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타이밍이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정교하게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동기화됩니다</a:t>
            </a:r>
            <a:r>
              <a:rPr lang="en-US" sz="24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9067800" y="2261235"/>
            <a:ext cx="7467600" cy="4071822"/>
            <a:chOff x="1384300" y="5989731"/>
            <a:chExt cx="6769100" cy="3344769"/>
          </a:xfrm>
        </p:grpSpPr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4300" y="6286073"/>
              <a:ext cx="6769100" cy="3048427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384300" y="5989731"/>
              <a:ext cx="5241486" cy="2654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PlayerStateMachineBehavior.cs – </a:t>
              </a:r>
              <a:r>
                <a:rPr lang="ko-KR" alt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플레이어 콤보 공격 </a:t>
              </a:r>
              <a:r>
                <a:rPr lang="ko-KR" altLang="en-US" sz="1500" b="1" dirty="0" err="1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상태머신</a:t>
              </a:r>
              <a:r>
                <a:rPr lang="ko-KR" altLang="en-US" sz="1500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구현</a:t>
              </a:r>
              <a:endParaRPr lang="ko-KR" altLang="en-US" sz="15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19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0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2" name="TextBox 12"/>
          <p:cNvSpPr txBox="1"/>
          <p:nvPr/>
        </p:nvSpPr>
        <p:spPr>
          <a:xfrm>
            <a:off x="1302049" y="1142999"/>
            <a:ext cx="8680151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Player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조작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및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무기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시스템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설계</a:t>
            </a:r>
            <a:endParaRPr lang="ko-KR" altLang="en-US" sz="4600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3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마우스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조작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+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무기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 err="1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히트박스</a:t>
            </a:r>
            <a:r>
              <a:rPr lang="en-US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</a:t>
            </a:r>
            <a:endParaRPr lang="ko-KR" altLang="en-US" sz="20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14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-10800000">
            <a:off x="-558800" y="647700"/>
            <a:ext cx="19443700" cy="63500"/>
          </a:xfrm>
          <a:prstGeom prst="rect">
            <a:avLst/>
          </a:prstGeom>
        </p:spPr>
      </p:pic>
      <p:sp>
        <p:nvSpPr>
          <p:cNvPr id="9" name="TextBox 13"/>
          <p:cNvSpPr txBox="1"/>
          <p:nvPr/>
        </p:nvSpPr>
        <p:spPr>
          <a:xfrm>
            <a:off x="9332260" y="5015454"/>
            <a:ext cx="7987983" cy="20783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ObjectManager, GameManager, QuestManager, PoolManager  </a:t>
            </a:r>
            <a:r>
              <a:rPr lang="ko-KR" altLang="en-US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 주요 매니저들은 공통 </a:t>
            </a:r>
            <a:r>
              <a:rPr lang="ko-KR" altLang="en-US" sz="2000" b="1" dirty="0" err="1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싱글톤</a:t>
            </a:r>
            <a:r>
              <a:rPr lang="ko-KR" altLang="en-US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기반으로 관리됩니다</a:t>
            </a:r>
            <a:r>
              <a:rPr lang="en-US" altLang="ko-KR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altLang="ko-KR" sz="2000" b="1" dirty="0" smtClean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0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Define.cs </a:t>
            </a:r>
            <a:r>
              <a:rPr lang="ko-KR" altLang="en-US" sz="20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에는 프로젝트 전역에서 사용되는 상수 및 태그를 통합 관리합니다</a:t>
            </a:r>
            <a:r>
              <a:rPr lang="en-US" altLang="ko-KR" sz="2000" b="1" i="0" u="none" strike="noStrike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altLang="ko-KR" sz="2000" b="1" i="0" u="none" strike="noStrike" dirty="0" smtClean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altLang="en-US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구조는 반복 사용되는 기능을 일관되게 관리하고 유지보수성을 향상시키기 위해 설계되었습니다</a:t>
            </a:r>
            <a:r>
              <a:rPr lang="en-US" altLang="ko-KR" sz="20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sz="2000" b="1" i="0" u="none" strike="noStrike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9336404" y="7112859"/>
            <a:ext cx="7983839" cy="2234707"/>
            <a:chOff x="9336404" y="7299960"/>
            <a:chExt cx="7983839" cy="2234707"/>
          </a:xfrm>
        </p:grpSpPr>
        <p:pic>
          <p:nvPicPr>
            <p:cNvPr id="13" name="Picture 3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36405" y="7299960"/>
              <a:ext cx="645796" cy="622300"/>
            </a:xfrm>
            <a:prstGeom prst="rect">
              <a:avLst/>
            </a:prstGeom>
          </p:spPr>
        </p:pic>
        <p:sp>
          <p:nvSpPr>
            <p:cNvPr id="14" name="TextBox 36"/>
            <p:cNvSpPr txBox="1"/>
            <p:nvPr/>
          </p:nvSpPr>
          <p:spPr>
            <a:xfrm>
              <a:off x="10135235" y="7446010"/>
              <a:ext cx="4331106" cy="419735"/>
            </a:xfrm>
            <a:prstGeom prst="rect">
              <a:avLst/>
            </a:prstGeom>
          </p:spPr>
          <p:txBody>
            <a:bodyPr vert="horz" wrap="square" lIns="0" tIns="0" rIns="0" bIns="0" numCol="1" anchor="t">
              <a:noAutofit/>
            </a:bodyPr>
            <a:lstStyle/>
            <a:p>
              <a:pPr marL="0" indent="0" algn="l">
                <a:lnSpc>
                  <a:spcPct val="99600"/>
                </a:lnSpc>
                <a:buFontTx/>
                <a:buNone/>
              </a:pPr>
              <a:r>
                <a:rPr lang="en-US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구현</a:t>
              </a:r>
              <a:r>
                <a:rPr lang="en-US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포인트</a:t>
              </a:r>
              <a:r>
                <a:rPr lang="en-US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2400" b="0" i="0" strike="noStrike" dirty="0">
                  <a:solidFill>
                    <a:srgbClr val="363D62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요약</a:t>
              </a:r>
              <a:endParaRPr lang="ko-KR" altLang="en-US" sz="2400" b="0" i="0" strike="noStrike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endParaRPr>
            </a:p>
          </p:txBody>
        </p:sp>
        <p:sp>
          <p:nvSpPr>
            <p:cNvPr id="15" name="TextBox 37"/>
            <p:cNvSpPr txBox="1"/>
            <p:nvPr/>
          </p:nvSpPr>
          <p:spPr>
            <a:xfrm>
              <a:off x="9336404" y="7941310"/>
              <a:ext cx="7983839" cy="1593357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en-US" altLang="ko-KR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Singleton </a:t>
              </a:r>
              <a:r>
                <a:rPr lang="ko-KR" altLang="en-US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패턴을 통해 전역 접근성 보장 </a:t>
              </a:r>
              <a:r>
                <a:rPr lang="en-US" altLang="ko-KR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+ </a:t>
              </a:r>
              <a:r>
                <a:rPr lang="ko-KR" altLang="en-US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중복 생성 방지</a:t>
              </a:r>
              <a:endParaRPr lang="ko-KR" sz="18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en-US" altLang="ko-KR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Deinfe.cs</a:t>
              </a:r>
              <a:r>
                <a:rPr lang="ko-KR" altLang="en-US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로 </a:t>
              </a:r>
              <a:r>
                <a:rPr lang="ko-KR" altLang="en-US" b="1" dirty="0" err="1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상수값</a:t>
              </a:r>
              <a:r>
                <a:rPr lang="en-US" altLang="ko-KR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altLang="en-US" b="1" dirty="0" err="1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애니메이터</a:t>
              </a:r>
              <a:r>
                <a:rPr lang="ko-KR" altLang="en-US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en-US" b="1" dirty="0" err="1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파라미터</a:t>
              </a:r>
              <a:r>
                <a:rPr lang="ko-KR" altLang="en-US" b="1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관리 → 오타 방지 및 유지보수 용이</a:t>
              </a:r>
              <a:endParaRPr lang="ko-KR" sz="18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ko-KR" altLang="en-US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프로젝트 확장 시</a:t>
              </a:r>
              <a:r>
                <a:rPr lang="en-US" altLang="ko-KR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altLang="en-US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새로운 매니저도 같은 방식으로 간편하게 추가 가능</a:t>
              </a:r>
              <a:endParaRPr lang="ko-KR" sz="18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342900" lvl="0" indent="-342900" algn="l">
                <a:lnSpc>
                  <a:spcPct val="150000"/>
                </a:lnSpc>
                <a:buClr>
                  <a:srgbClr val="363D62"/>
                </a:buClr>
                <a:buFont typeface="Arial"/>
                <a:buChar char="●"/>
              </a:pPr>
              <a:r>
                <a:rPr lang="ko-KR" altLang="en-US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인스턴스 호출 명확하게 </a:t>
              </a:r>
              <a:r>
                <a:rPr lang="ko-KR" altLang="en-US" sz="1800" b="1" i="0" u="none" strike="noStrike" dirty="0" err="1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일관화</a:t>
              </a:r>
              <a:r>
                <a:rPr lang="ko-KR" altLang="en-US" sz="1800" b="1" i="0" u="none" strike="noStrike" dirty="0" smtClean="0">
                  <a:solidFill>
                    <a:srgbClr val="363D62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가능</a:t>
              </a:r>
              <a:endParaRPr lang="ko-KR" sz="1800" b="1" i="0" u="none" strike="noStrike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918" y="2755153"/>
            <a:ext cx="7700682" cy="6577226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2261" y="2755153"/>
            <a:ext cx="7736540" cy="2133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02049" y="2435677"/>
            <a:ext cx="13163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Singleton.cs</a:t>
            </a:r>
            <a:endParaRPr lang="ko-KR" altLang="en-US" sz="15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36404" y="2438532"/>
            <a:ext cx="104387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b="1" dirty="0" smtClean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Define.cs</a:t>
            </a:r>
            <a:endParaRPr lang="ko-KR" altLang="en-US" sz="1500" b="1" dirty="0">
              <a:solidFill>
                <a:srgbClr val="363D6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3"/>
          <p:cNvSpPr txBox="1"/>
          <p:nvPr/>
        </p:nvSpPr>
        <p:spPr>
          <a:xfrm>
            <a:off x="1308100" y="215898"/>
            <a:ext cx="407035" cy="229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2000" b="0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2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4" name="TextBox 7"/>
          <p:cNvSpPr txBox="1">
            <a:spLocks/>
          </p:cNvSpPr>
          <p:nvPr/>
        </p:nvSpPr>
        <p:spPr>
          <a:xfrm>
            <a:off x="7426325" y="25400"/>
            <a:ext cx="3473450" cy="622300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altLang="en-US" sz="3000" b="1" i="0" strike="noStrike" dirty="0" smtClean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 구현</a:t>
            </a:r>
            <a:endParaRPr lang="ko-KR" altLang="en-US" sz="3000" b="1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5" name="TextBox 12"/>
          <p:cNvSpPr txBox="1"/>
          <p:nvPr/>
        </p:nvSpPr>
        <p:spPr>
          <a:xfrm>
            <a:off x="1302049" y="1142999"/>
            <a:ext cx="8680151" cy="8261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공통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유틸</a:t>
            </a:r>
            <a:r>
              <a:rPr lang="ko-KR" altLang="en-US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리티</a:t>
            </a:r>
            <a:r>
              <a:rPr lang="en-US" altLang="ko-KR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/ </a:t>
            </a:r>
            <a:r>
              <a:rPr lang="ko-KR" altLang="en-US" sz="4600" dirty="0" err="1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싱글톤</a:t>
            </a:r>
            <a:r>
              <a:rPr lang="ko-KR" altLang="en-US" sz="46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설계 구조</a:t>
            </a:r>
          </a:p>
        </p:txBody>
      </p:sp>
      <p:sp>
        <p:nvSpPr>
          <p:cNvPr id="26" name="TextBox 13"/>
          <p:cNvSpPr txBox="1"/>
          <p:nvPr/>
        </p:nvSpPr>
        <p:spPr>
          <a:xfrm>
            <a:off x="1302049" y="1815465"/>
            <a:ext cx="6236335" cy="356235"/>
          </a:xfrm>
          <a:prstGeom prst="rect">
            <a:avLst/>
          </a:prstGeom>
        </p:spPr>
        <p:txBody>
          <a:bodyPr vert="horz" wrap="square" lIns="0" tIns="0" rIns="0" bIns="0" numCol="1" anchor="t">
            <a:noAutofit/>
          </a:bodyPr>
          <a:lstStyle/>
          <a:p>
            <a:pPr>
              <a:lnSpc>
                <a:spcPct val="99600"/>
              </a:lnSpc>
            </a:pPr>
            <a:r>
              <a:rPr lang="ko-KR" altLang="en-US" sz="2000" b="1" dirty="0">
                <a:solidFill>
                  <a:srgbClr val="363D6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최적화를 위한 구조 구현</a:t>
            </a:r>
          </a:p>
        </p:txBody>
      </p:sp>
      <p:sp>
        <p:nvSpPr>
          <p:cNvPr id="18" name="슬라이드 번호 개체 틀 17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smtClean="0"/>
              <a:t>Luna ON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15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13000"/>
          </a:blip>
          <a:stretch>
            <a:fillRect/>
          </a:stretch>
        </p:blipFill>
        <p:spPr>
          <a:xfrm rot="-420000">
            <a:off x="-63500" y="6299200"/>
            <a:ext cx="15836900" cy="12204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43000"/>
          </a:blip>
          <a:stretch>
            <a:fillRect/>
          </a:stretch>
        </p:blipFill>
        <p:spPr>
          <a:xfrm rot="-420000">
            <a:off x="12179300" y="1574800"/>
            <a:ext cx="12903200" cy="98552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10000"/>
          </a:blip>
          <a:stretch>
            <a:fillRect/>
          </a:stretch>
        </p:blipFill>
        <p:spPr>
          <a:xfrm rot="-420000">
            <a:off x="-9093200" y="-4152900"/>
            <a:ext cx="15011400" cy="114681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3213100" y="3721100"/>
            <a:ext cx="11786235" cy="19437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en-US" sz="10000" b="0" i="0" strike="noStrike" spc="100" dirty="0">
                <a:solidFill>
                  <a:srgbClr val="363D62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THANK YOU</a:t>
            </a:r>
            <a:endParaRPr lang="ko-KR" altLang="en-US" sz="10000" b="0" i="0" strike="noStrike" dirty="0">
              <a:solidFill>
                <a:srgbClr val="363D62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035800" y="5829300"/>
            <a:ext cx="4153535" cy="610235"/>
          </a:xfrm>
          <a:prstGeom prst="rect">
            <a:avLst/>
          </a:prstGeom>
        </p:spPr>
        <p:txBody>
          <a:bodyPr vert="horz" wrap="square" lIns="0" tIns="0" rIns="0" bIns="0" numCol="1" anchor="ctr">
            <a:noAutofit/>
          </a:bodyPr>
          <a:lstStyle/>
          <a:p>
            <a:pPr marL="0" indent="0" algn="ctr">
              <a:lnSpc>
                <a:spcPct val="120350"/>
              </a:lnSpc>
              <a:buFontTx/>
              <a:buNone/>
            </a:pPr>
            <a:r>
              <a:rPr lang="ko-KR" altLang="en-US" sz="2500" b="1" dirty="0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 개발자 </a:t>
            </a:r>
            <a:r>
              <a:rPr lang="ko-KR" altLang="en-US" sz="2500" b="1" dirty="0" err="1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유예원</a:t>
            </a:r>
            <a:endParaRPr lang="ko-KR" altLang="en-US" sz="2500" b="1" dirty="0">
              <a:solidFill>
                <a:srgbClr val="363D62">
                  <a:alpha val="84780"/>
                </a:srgb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ctr">
              <a:lnSpc>
                <a:spcPct val="120350"/>
              </a:lnSpc>
              <a:buFontTx/>
              <a:buNone/>
            </a:pPr>
            <a:r>
              <a:rPr lang="en-US" altLang="ko-KR" sz="2500" b="1" i="0" strike="noStrike" dirty="0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LUNA ON </a:t>
            </a:r>
            <a:r>
              <a:rPr lang="ko-KR" sz="2500" b="1" i="0" strike="noStrike" dirty="0">
                <a:solidFill>
                  <a:srgbClr val="363D62">
                    <a:alpha val="84780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포트폴리오</a:t>
            </a:r>
            <a:endParaRPr lang="ko-KR" altLang="en-US" sz="2500" b="1" i="0" strike="noStrike" dirty="0">
              <a:solidFill>
                <a:srgbClr val="363D62">
                  <a:alpha val="84780"/>
                </a:srgb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Pages>16</Pages>
  <Words>893</Words>
  <Characters>0</Characters>
  <Application>Microsoft Office PowerPoint</Application>
  <DocSecurity>0</DocSecurity>
  <PresentationFormat>사용자 지정</PresentationFormat>
  <Lines>0</Lines>
  <Paragraphs>169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Pretendard</vt:lpstr>
      <vt:lpstr>Arial</vt:lpstr>
      <vt:lpstr>맑은 고딕</vt:lpstr>
      <vt:lpstr>Pretendard Black</vt:lpstr>
      <vt:lpstr>Gmarket Sans Bold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modified xsi:type="dcterms:W3CDTF">2025-06-18T07:00:35Z</dcterms:modified>
  <cp:version/>
</cp:coreProperties>
</file>